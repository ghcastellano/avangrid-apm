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14253451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625C93-23F8-CB07-D18D-605E643B4C39}" name="Daniel Belmar Garcia" initials="DB" userId="S::dbelmarg@emeal.nttdata.com::20dc0f96-9476-4833-838f-6bd444f49ce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FE7"/>
    <a:srgbClr val="F0FAEC"/>
    <a:srgbClr val="8BBB6D"/>
    <a:srgbClr val="44B517"/>
    <a:srgbClr val="9FDDA6"/>
    <a:srgbClr val="DCF4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5E764C-0309-4417-8CCD-B40B7B895E99}" v="56" dt="2026-01-27T21:31:33.624"/>
    <p1510:client id="{42B1588A-E7A9-4850-85A5-AB641C51DB23}" v="195" dt="2026-01-28T14:26:00.247"/>
    <p1510:client id="{5AFFDF2A-064A-03C4-97EF-FCF42A02724C}" v="79" dt="2026-01-27T21:41:00.8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80" d="100"/>
          <a:sy n="180" d="100"/>
        </p:scale>
        <p:origin x="-224" y="-2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927654-EE86-437B-A5A7-A823986F2349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336D2-CCFF-4D85-8206-A3D2FA2904F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92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78B96-6B5D-11FC-7A7E-1682586E0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19F85-AA84-1095-8885-F938A1B30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DD611B-8C30-A214-8DE2-60E98215F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2C415-CD78-5CBB-E6B1-5D63AD0F4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DED3B-EAFC-4958-8886-8C4B7DAEF478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3355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90E01-FF17-79FB-591D-629695479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692CFFB-0A2C-E1D4-3D70-6FDD85A49DC3}"/>
              </a:ext>
            </a:extLst>
          </p:cNvPr>
          <p:cNvSpPr/>
          <p:nvPr/>
        </p:nvSpPr>
        <p:spPr>
          <a:xfrm>
            <a:off x="416859" y="1061570"/>
            <a:ext cx="11358281" cy="5618630"/>
          </a:xfrm>
          <a:prstGeom prst="roundRect">
            <a:avLst>
              <a:gd name="adj" fmla="val 286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FF9B3C9-5312-1F63-8D49-012A7141DF30}"/>
              </a:ext>
            </a:extLst>
          </p:cNvPr>
          <p:cNvSpPr/>
          <p:nvPr/>
        </p:nvSpPr>
        <p:spPr>
          <a:xfrm>
            <a:off x="523707" y="1904870"/>
            <a:ext cx="7422982" cy="27592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noProof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A11D348-728C-77C0-898D-CA6D0877632D}"/>
              </a:ext>
            </a:extLst>
          </p:cNvPr>
          <p:cNvSpPr/>
          <p:nvPr/>
        </p:nvSpPr>
        <p:spPr>
          <a:xfrm>
            <a:off x="527884" y="4758916"/>
            <a:ext cx="7418805" cy="18515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noProof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DE168D1-5BA5-A70C-D20C-74BFE91966B6}"/>
              </a:ext>
            </a:extLst>
          </p:cNvPr>
          <p:cNvSpPr/>
          <p:nvPr/>
        </p:nvSpPr>
        <p:spPr>
          <a:xfrm>
            <a:off x="7522111" y="1460147"/>
            <a:ext cx="925728" cy="303303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/>
              <a:t>{{BUSINESS_CRITICALITY}}</a:t>
            </a:r>
            <a:endParaRPr lang="en-US" sz="8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DBC5C38-4771-D154-C3FE-1E550C4698D4}"/>
              </a:ext>
            </a:extLst>
          </p:cNvPr>
          <p:cNvSpPr/>
          <p:nvPr/>
        </p:nvSpPr>
        <p:spPr>
          <a:xfrm>
            <a:off x="6503063" y="1460259"/>
            <a:ext cx="931903" cy="303303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/>
              <a:t>{{OWNED_BY}}</a:t>
            </a:r>
            <a:endParaRPr lang="en-US" sz="8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60A746A-C357-ED70-42AA-FA41490A80B3}"/>
              </a:ext>
            </a:extLst>
          </p:cNvPr>
          <p:cNvSpPr/>
          <p:nvPr/>
        </p:nvSpPr>
        <p:spPr>
          <a:xfrm>
            <a:off x="1835880" y="1466142"/>
            <a:ext cx="2691110" cy="303303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/>
              <a:t>{{OPCOS}}</a:t>
            </a:r>
            <a:endParaRPr lang="en-US" sz="8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38E9683-B407-3540-8F98-328F4FA1B7FD}"/>
              </a:ext>
            </a:extLst>
          </p:cNvPr>
          <p:cNvSpPr/>
          <p:nvPr/>
        </p:nvSpPr>
        <p:spPr>
          <a:xfrm>
            <a:off x="531009" y="1467000"/>
            <a:ext cx="1228168" cy="303303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/>
              <a:t>{{UTILITY_DOMAIN}}</a:t>
            </a:r>
            <a:endParaRPr lang="en-US" sz="8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CBB51FE-86D6-6764-6462-182009ADB9AF}"/>
              </a:ext>
            </a:extLst>
          </p:cNvPr>
          <p:cNvSpPr/>
          <p:nvPr/>
        </p:nvSpPr>
        <p:spPr>
          <a:xfrm>
            <a:off x="8059367" y="1898364"/>
            <a:ext cx="3622013" cy="27752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noProof="0"/>
          </a:p>
        </p:txBody>
      </p:sp>
      <p:graphicFrame>
        <p:nvGraphicFramePr>
          <p:cNvPr id="35" name="Objeto 34" hidden="1">
            <a:extLst>
              <a:ext uri="{FF2B5EF4-FFF2-40B4-BE49-F238E27FC236}">
                <a16:creationId xmlns:a16="http://schemas.microsoft.com/office/drawing/2014/main" id="{AD283425-0999-98E7-55CE-B782A60DE3C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73" imgH="476" progId="TCLayout.ActiveDocument.1">
                  <p:embed/>
                </p:oleObj>
              </mc:Choice>
              <mc:Fallback>
                <p:oleObj name="Diapositiva de think-cell" r:id="rId4" imgW="473" imgH="476" progId="TCLayout.ActiveDocument.1">
                  <p:embed/>
                  <p:pic>
                    <p:nvPicPr>
                      <p:cNvPr id="35" name="Objeto 34" hidden="1">
                        <a:extLst>
                          <a:ext uri="{FF2B5EF4-FFF2-40B4-BE49-F238E27FC236}">
                            <a16:creationId xmlns:a16="http://schemas.microsoft.com/office/drawing/2014/main" id="{AD283425-0999-98E7-55CE-B782A60DE3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5DE4517-0893-BCBD-6972-F15BD5D961D3}"/>
              </a:ext>
            </a:extLst>
          </p:cNvPr>
          <p:cNvSpPr txBox="1"/>
          <p:nvPr/>
        </p:nvSpPr>
        <p:spPr>
          <a:xfrm>
            <a:off x="416859" y="858904"/>
            <a:ext cx="11358281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{{NOME_DO_APP}}</a:t>
            </a:r>
            <a:endParaRPr lang="en-US" sz="1200" b="1" noProof="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5432A07-4AFB-8962-B2BA-61191E4A6F7C}"/>
              </a:ext>
            </a:extLst>
          </p:cNvPr>
          <p:cNvSpPr txBox="1"/>
          <p:nvPr/>
        </p:nvSpPr>
        <p:spPr>
          <a:xfrm>
            <a:off x="8047849" y="1824019"/>
            <a:ext cx="3640917" cy="253916"/>
          </a:xfrm>
          <a:prstGeom prst="rect">
            <a:avLst/>
          </a:prstGeom>
          <a:solidFill>
            <a:srgbClr val="F0FAE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>
                <a:latin typeface="Montserrat" panose="00000500000000000000" pitchFamily="2" charset="0"/>
              </a:rPr>
              <a:t>Maintenance</a:t>
            </a:r>
            <a:endParaRPr lang="en-US" sz="1400" b="1" noProof="0">
              <a:latin typeface="Montserrat" panose="00000500000000000000" pitchFamily="2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AFCA84CA-CB92-AED0-9022-D84CF2E90CAE}"/>
              </a:ext>
            </a:extLst>
          </p:cNvPr>
          <p:cNvSpPr txBox="1"/>
          <p:nvPr/>
        </p:nvSpPr>
        <p:spPr>
          <a:xfrm>
            <a:off x="511815" y="1824731"/>
            <a:ext cx="7443839" cy="261610"/>
          </a:xfrm>
          <a:prstGeom prst="rect">
            <a:avLst/>
          </a:prstGeom>
          <a:solidFill>
            <a:srgbClr val="F0FAE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noProof="0">
                <a:latin typeface="Montserrat" panose="00000500000000000000" pitchFamily="2" charset="0"/>
              </a:rPr>
              <a:t>Business</a:t>
            </a:r>
            <a:endParaRPr lang="en-US" sz="1400" b="1" noProof="0">
              <a:latin typeface="Montserrat" panose="00000500000000000000" pitchFamily="2" charset="0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BF7E285-9403-B18D-66A4-196225C5AAF4}"/>
              </a:ext>
            </a:extLst>
          </p:cNvPr>
          <p:cNvSpPr txBox="1"/>
          <p:nvPr/>
        </p:nvSpPr>
        <p:spPr>
          <a:xfrm>
            <a:off x="516365" y="4735479"/>
            <a:ext cx="7418805" cy="253916"/>
          </a:xfrm>
          <a:prstGeom prst="rect">
            <a:avLst/>
          </a:prstGeom>
          <a:solidFill>
            <a:srgbClr val="F0FAE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noProof="0">
                <a:latin typeface="Montserrat" panose="00000500000000000000" pitchFamily="2" charset="0"/>
              </a:rPr>
              <a:t>Technology</a:t>
            </a:r>
            <a:endParaRPr lang="en-US" sz="1400" b="1" noProof="0">
              <a:latin typeface="Montserrat" panose="00000500000000000000" pitchFamily="2" charset="0"/>
            </a:endParaRPr>
          </a:p>
        </p:txBody>
      </p:sp>
      <p:sp>
        <p:nvSpPr>
          <p:cNvPr id="160" name="CuadroTexto 15">
            <a:extLst>
              <a:ext uri="{FF2B5EF4-FFF2-40B4-BE49-F238E27FC236}">
                <a16:creationId xmlns:a16="http://schemas.microsoft.com/office/drawing/2014/main" id="{FCD18E68-221D-3605-B8B3-0E976ACC76C5}"/>
              </a:ext>
            </a:extLst>
          </p:cNvPr>
          <p:cNvSpPr txBox="1"/>
          <p:nvPr/>
        </p:nvSpPr>
        <p:spPr>
          <a:xfrm>
            <a:off x="9324797" y="364206"/>
            <a:ext cx="25852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Arial" panose="020B0604020202020204" pitchFamily="34" charset="0"/>
              </a:rPr>
              <a:t>AVANGRID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Arial" panose="020B0604020202020204" pitchFamily="34" charset="0"/>
              </a:rPr>
              <a:t>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Arial" panose="020B0604020202020204" pitchFamily="34" charset="0"/>
              </a:rPr>
              <a:t>-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Arial" panose="020B0604020202020204" pitchFamily="34" charset="0"/>
              </a:rPr>
              <a:t> NTT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8D134B-1796-4AF0-FD9C-C75B44810198}"/>
              </a:ext>
            </a:extLst>
          </p:cNvPr>
          <p:cNvSpPr/>
          <p:nvPr/>
        </p:nvSpPr>
        <p:spPr>
          <a:xfrm>
            <a:off x="8534985" y="1460147"/>
            <a:ext cx="735890" cy="303303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/>
              <a:t>{{USAGE}}</a:t>
            </a:r>
            <a:endParaRPr lang="en-US" sz="8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ctr"/>
            <a:endParaRPr lang="en-US" sz="900" b="1" dirty="0">
              <a:latin typeface="Montserrat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63B1A0-069A-45B9-617F-B0368D8C1D3C}"/>
              </a:ext>
            </a:extLst>
          </p:cNvPr>
          <p:cNvSpPr txBox="1"/>
          <p:nvPr/>
        </p:nvSpPr>
        <p:spPr>
          <a:xfrm>
            <a:off x="716663" y="2120546"/>
            <a:ext cx="16358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noProof="0">
                <a:latin typeface="Montserrat" panose="00000500000000000000" pitchFamily="2" charset="0"/>
              </a:rPr>
              <a:t>Business Purpose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9EBB01-96B1-B16F-77B5-576A19F09520}"/>
              </a:ext>
            </a:extLst>
          </p:cNvPr>
          <p:cNvSpPr/>
          <p:nvPr/>
        </p:nvSpPr>
        <p:spPr>
          <a:xfrm>
            <a:off x="672412" y="2317583"/>
            <a:ext cx="4182742" cy="95595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800" dirty="0"/>
              <a:t>{{BUSINESS_PURPOSE}}</a:t>
            </a:r>
            <a:endParaRPr lang="en-US" sz="7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en-US" sz="800" noProof="0" dirty="0">
              <a:latin typeface="Montserrat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03C598-8E54-43C6-0DB7-E40A0C2DD765}"/>
              </a:ext>
            </a:extLst>
          </p:cNvPr>
          <p:cNvSpPr txBox="1"/>
          <p:nvPr/>
        </p:nvSpPr>
        <p:spPr>
          <a:xfrm>
            <a:off x="4996536" y="2120546"/>
            <a:ext cx="23403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noProof="0">
                <a:latin typeface="Montserrat" panose="00000500000000000000" pitchFamily="2" charset="0"/>
              </a:rPr>
              <a:t>Application Functionality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00A6AD-1FC0-F303-3C70-566A5D0652FF}"/>
              </a:ext>
            </a:extLst>
          </p:cNvPr>
          <p:cNvSpPr/>
          <p:nvPr/>
        </p:nvSpPr>
        <p:spPr>
          <a:xfrm>
            <a:off x="5085636" y="2317583"/>
            <a:ext cx="2750674" cy="95595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noProof="0">
              <a:latin typeface="Montserrat" panose="000005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CC6955-D0E4-BA8D-BF09-4A38831A50F4}"/>
              </a:ext>
            </a:extLst>
          </p:cNvPr>
          <p:cNvSpPr txBox="1"/>
          <p:nvPr/>
        </p:nvSpPr>
        <p:spPr>
          <a:xfrm>
            <a:off x="716663" y="3296972"/>
            <a:ext cx="23408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noProof="0">
                <a:latin typeface="Montserrat" panose="00000500000000000000" pitchFamily="2" charset="0"/>
              </a:rPr>
              <a:t>Business Process Coverage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0B4CF0-E8AB-52CE-66A4-D799781918DC}"/>
              </a:ext>
            </a:extLst>
          </p:cNvPr>
          <p:cNvSpPr/>
          <p:nvPr/>
        </p:nvSpPr>
        <p:spPr>
          <a:xfrm>
            <a:off x="672412" y="3494009"/>
            <a:ext cx="4182742" cy="108129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800" dirty="0"/>
              <a:t>{{BUSINESS_PROCESS_COVERAGE}}</a:t>
            </a:r>
            <a:endParaRPr lang="en-US" sz="7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en-US" sz="800" noProof="0" dirty="0">
              <a:latin typeface="Montserrat" panose="0000050000000000000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932E26-9804-1C5F-9B3F-B78B92E8314D}"/>
              </a:ext>
            </a:extLst>
          </p:cNvPr>
          <p:cNvSpPr txBox="1"/>
          <p:nvPr/>
        </p:nvSpPr>
        <p:spPr>
          <a:xfrm>
            <a:off x="5085636" y="3296972"/>
            <a:ext cx="23408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noProof="0">
                <a:latin typeface="Montserrat" panose="00000500000000000000" pitchFamily="2" charset="0"/>
              </a:rPr>
              <a:t>Business Areas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99D50E1-77E7-6D80-5FF8-2432EAB0FC74}"/>
              </a:ext>
            </a:extLst>
          </p:cNvPr>
          <p:cNvSpPr/>
          <p:nvPr/>
        </p:nvSpPr>
        <p:spPr>
          <a:xfrm>
            <a:off x="5097901" y="3494009"/>
            <a:ext cx="2738409" cy="2308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noProof="0">
              <a:latin typeface="Montserrat" panose="000005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D45892-CDA7-6C1C-323A-370DFE1AF23A}"/>
              </a:ext>
            </a:extLst>
          </p:cNvPr>
          <p:cNvSpPr txBox="1"/>
          <p:nvPr/>
        </p:nvSpPr>
        <p:spPr>
          <a:xfrm>
            <a:off x="5085635" y="3749534"/>
            <a:ext cx="11239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latin typeface="Montserrat" panose="00000500000000000000" pitchFamily="2" charset="0"/>
              </a:rPr>
              <a:t>User Personas</a:t>
            </a:r>
            <a:endParaRPr lang="en-US" sz="900" b="1" noProof="0">
              <a:latin typeface="Montserrat" panose="00000500000000000000" pitchFamily="2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020427E-3AA8-A659-C420-BF1FF42F965E}"/>
              </a:ext>
            </a:extLst>
          </p:cNvPr>
          <p:cNvSpPr/>
          <p:nvPr/>
        </p:nvSpPr>
        <p:spPr>
          <a:xfrm>
            <a:off x="5097901" y="3946570"/>
            <a:ext cx="1612193" cy="6287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noProof="0">
              <a:latin typeface="Montserrat" panose="00000500000000000000" pitchFamily="2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E459D9E-BE23-AD05-DD51-B978F49820F3}"/>
              </a:ext>
            </a:extLst>
          </p:cNvPr>
          <p:cNvSpPr/>
          <p:nvPr/>
        </p:nvSpPr>
        <p:spPr>
          <a:xfrm>
            <a:off x="4603693" y="1466142"/>
            <a:ext cx="1822667" cy="303303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/>
              <a:t>{{BUSINESS_AREA}}</a:t>
            </a:r>
            <a:endParaRPr lang="en-US" sz="8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4B18AEE-3417-7AD8-0A96-83AB2583CE0C}"/>
              </a:ext>
            </a:extLst>
          </p:cNvPr>
          <p:cNvSpPr/>
          <p:nvPr/>
        </p:nvSpPr>
        <p:spPr>
          <a:xfrm>
            <a:off x="9346439" y="1460147"/>
            <a:ext cx="977058" cy="303303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b="1">
              <a:latin typeface="Montserrat" panose="00000500000000000000" pitchFamily="2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BF36F7E-8DB7-2745-610D-DBF791121ACE}"/>
              </a:ext>
            </a:extLst>
          </p:cNvPr>
          <p:cNvSpPr/>
          <p:nvPr/>
        </p:nvSpPr>
        <p:spPr>
          <a:xfrm>
            <a:off x="531009" y="1281749"/>
            <a:ext cx="1228168" cy="19422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noProof="0">
                <a:solidFill>
                  <a:schemeClr val="bg1"/>
                </a:solidFill>
                <a:latin typeface="Montserrat" panose="00000500000000000000" pitchFamily="2" charset="0"/>
              </a:rPr>
              <a:t>Utility Domain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6809169-7263-A256-7654-5BE3A379E6C4}"/>
              </a:ext>
            </a:extLst>
          </p:cNvPr>
          <p:cNvSpPr/>
          <p:nvPr/>
        </p:nvSpPr>
        <p:spPr>
          <a:xfrm>
            <a:off x="1839360" y="1281749"/>
            <a:ext cx="2684148" cy="1783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noProof="0">
                <a:solidFill>
                  <a:schemeClr val="bg1"/>
                </a:solidFill>
                <a:latin typeface="Montserrat" panose="00000500000000000000" pitchFamily="2" charset="0"/>
              </a:rPr>
              <a:t>OPCO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D7BC7AC-612E-750D-2684-4890A698250D}"/>
              </a:ext>
            </a:extLst>
          </p:cNvPr>
          <p:cNvSpPr/>
          <p:nvPr/>
        </p:nvSpPr>
        <p:spPr>
          <a:xfrm>
            <a:off x="4607173" y="1281748"/>
            <a:ext cx="1815705" cy="18525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noProof="0">
                <a:solidFill>
                  <a:schemeClr val="bg1"/>
                </a:solidFill>
                <a:latin typeface="Montserrat" panose="00000500000000000000" pitchFamily="2" charset="0"/>
              </a:rPr>
              <a:t>Business Area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96F9387-7545-9525-CB80-1F49CBE4EAF5}"/>
              </a:ext>
            </a:extLst>
          </p:cNvPr>
          <p:cNvSpPr/>
          <p:nvPr/>
        </p:nvSpPr>
        <p:spPr>
          <a:xfrm>
            <a:off x="6503061" y="1281749"/>
            <a:ext cx="933502" cy="1783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noProof="0">
                <a:solidFill>
                  <a:schemeClr val="bg1"/>
                </a:solidFill>
                <a:latin typeface="Montserrat" panose="00000500000000000000" pitchFamily="2" charset="0"/>
              </a:rPr>
              <a:t>Owned by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8BBD5248-DA23-A928-7312-C598C00A2406}"/>
              </a:ext>
            </a:extLst>
          </p:cNvPr>
          <p:cNvSpPr/>
          <p:nvPr/>
        </p:nvSpPr>
        <p:spPr>
          <a:xfrm>
            <a:off x="7516746" y="1281749"/>
            <a:ext cx="931092" cy="16776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noProof="0">
                <a:solidFill>
                  <a:schemeClr val="bg1"/>
                </a:solidFill>
                <a:latin typeface="Montserrat" panose="00000500000000000000" pitchFamily="2" charset="0"/>
              </a:rPr>
              <a:t>Bus. Critical.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57AB847-42C5-5C73-38CC-6AF993251611}"/>
              </a:ext>
            </a:extLst>
          </p:cNvPr>
          <p:cNvSpPr/>
          <p:nvPr/>
        </p:nvSpPr>
        <p:spPr>
          <a:xfrm>
            <a:off x="8534985" y="1281749"/>
            <a:ext cx="735890" cy="16776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noProof="0">
                <a:solidFill>
                  <a:schemeClr val="bg1"/>
                </a:solidFill>
                <a:latin typeface="Montserrat" panose="00000500000000000000" pitchFamily="2" charset="0"/>
              </a:rPr>
              <a:t>Usage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E3794DD-6DFF-56D4-4FE4-96A53BE9B428}"/>
              </a:ext>
            </a:extLst>
          </p:cNvPr>
          <p:cNvSpPr/>
          <p:nvPr/>
        </p:nvSpPr>
        <p:spPr>
          <a:xfrm>
            <a:off x="9346439" y="1281749"/>
            <a:ext cx="977058" cy="16776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noProof="0">
                <a:solidFill>
                  <a:schemeClr val="bg1"/>
                </a:solidFill>
                <a:latin typeface="Montserrat" panose="00000500000000000000" pitchFamily="2" charset="0"/>
              </a:rPr>
              <a:t>Satisfaction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C75DB35-AD55-C53F-CA56-4E3FBFAB74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0439" y="1502806"/>
            <a:ext cx="190890" cy="19089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8EC7293-761F-0769-7A69-07D92FA16C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7945" y="1460848"/>
            <a:ext cx="254075" cy="25407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A4E8223-C46C-85B4-06B3-3754375A96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8636" y="1494385"/>
            <a:ext cx="190890" cy="190890"/>
          </a:xfrm>
          <a:prstGeom prst="rect">
            <a:avLst/>
          </a:prstGeom>
        </p:spPr>
      </p:pic>
      <p:sp>
        <p:nvSpPr>
          <p:cNvPr id="132" name="Rectangle 131">
            <a:extLst>
              <a:ext uri="{FF2B5EF4-FFF2-40B4-BE49-F238E27FC236}">
                <a16:creationId xmlns:a16="http://schemas.microsoft.com/office/drawing/2014/main" id="{70B85771-6CDB-9E12-E4B5-0443F13D3539}"/>
              </a:ext>
            </a:extLst>
          </p:cNvPr>
          <p:cNvSpPr/>
          <p:nvPr/>
        </p:nvSpPr>
        <p:spPr>
          <a:xfrm>
            <a:off x="10399062" y="1281749"/>
            <a:ext cx="1238136" cy="159855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noProof="0">
                <a:solidFill>
                  <a:schemeClr val="bg1"/>
                </a:solidFill>
                <a:latin typeface="Montserrat" panose="00000500000000000000" pitchFamily="2" charset="0"/>
              </a:rPr>
              <a:t>Owners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CF992DA7-1A51-F849-D226-3BD2D4C5E938}"/>
              </a:ext>
            </a:extLst>
          </p:cNvPr>
          <p:cNvSpPr/>
          <p:nvPr/>
        </p:nvSpPr>
        <p:spPr>
          <a:xfrm>
            <a:off x="10513764" y="1460148"/>
            <a:ext cx="1123433" cy="141692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600" dirty="0"/>
              <a:t>{{BUSINESS_OWNER}}</a:t>
            </a:r>
            <a:endParaRPr lang="en-US" sz="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CBD3EED7-BD74-1A7D-A160-F6DA1A7A49D2}"/>
              </a:ext>
            </a:extLst>
          </p:cNvPr>
          <p:cNvSpPr/>
          <p:nvPr/>
        </p:nvSpPr>
        <p:spPr>
          <a:xfrm>
            <a:off x="10404657" y="1460148"/>
            <a:ext cx="109107" cy="141692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>
                <a:latin typeface="Montserrat" panose="00000500000000000000" pitchFamily="2" charset="0"/>
              </a:rPr>
              <a:t>B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6BD7DD56-1E3D-7D3E-09DA-8A7DB13F733D}"/>
              </a:ext>
            </a:extLst>
          </p:cNvPr>
          <p:cNvSpPr/>
          <p:nvPr/>
        </p:nvSpPr>
        <p:spPr>
          <a:xfrm>
            <a:off x="10513764" y="1621758"/>
            <a:ext cx="1123433" cy="141692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700" dirty="0"/>
              <a:t>{{IT_OWNER}}</a:t>
            </a:r>
            <a:endParaRPr lang="en-US" sz="7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AAAA49AB-89E6-6322-369A-4A2C92C319C0}"/>
              </a:ext>
            </a:extLst>
          </p:cNvPr>
          <p:cNvSpPr/>
          <p:nvPr/>
        </p:nvSpPr>
        <p:spPr>
          <a:xfrm>
            <a:off x="10404657" y="1621758"/>
            <a:ext cx="109107" cy="141692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>
                <a:latin typeface="Montserrat" panose="00000500000000000000" pitchFamily="2" charset="0"/>
              </a:rPr>
              <a:t>I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67374FC7-6E86-0A2B-C607-EB56DE1C97DD}"/>
              </a:ext>
            </a:extLst>
          </p:cNvPr>
          <p:cNvSpPr txBox="1"/>
          <p:nvPr/>
        </p:nvSpPr>
        <p:spPr>
          <a:xfrm>
            <a:off x="6822772" y="3749534"/>
            <a:ext cx="11239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noProof="0">
                <a:latin typeface="Montserrat" panose="00000500000000000000" pitchFamily="2" charset="0"/>
              </a:rPr>
              <a:t>No Users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D3A7382-368C-E010-EB47-294D1B25C37E}"/>
              </a:ext>
            </a:extLst>
          </p:cNvPr>
          <p:cNvSpPr/>
          <p:nvPr/>
        </p:nvSpPr>
        <p:spPr>
          <a:xfrm>
            <a:off x="6837797" y="3946571"/>
            <a:ext cx="998099" cy="20165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noProof="0">
              <a:latin typeface="Montserrat" panose="00000500000000000000" pitchFamily="2" charset="0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2DE81C32-CB0F-225B-8864-01364A2001E3}"/>
              </a:ext>
            </a:extLst>
          </p:cNvPr>
          <p:cNvSpPr/>
          <p:nvPr/>
        </p:nvSpPr>
        <p:spPr>
          <a:xfrm>
            <a:off x="8047849" y="4758916"/>
            <a:ext cx="3640917" cy="18515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noProof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C9A18F3-2EEE-E0E7-3A4F-70DBBF9FD2AE}"/>
              </a:ext>
            </a:extLst>
          </p:cNvPr>
          <p:cNvSpPr txBox="1"/>
          <p:nvPr/>
        </p:nvSpPr>
        <p:spPr>
          <a:xfrm>
            <a:off x="8047849" y="4735479"/>
            <a:ext cx="3640917" cy="253916"/>
          </a:xfrm>
          <a:prstGeom prst="rect">
            <a:avLst/>
          </a:prstGeom>
          <a:solidFill>
            <a:srgbClr val="F0FAE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noProof="0">
                <a:latin typeface="Montserrat" panose="00000500000000000000" pitchFamily="2" charset="0"/>
              </a:rPr>
              <a:t>Recommendation: XXXXX</a:t>
            </a:r>
            <a:endParaRPr lang="en-US" sz="1400" b="1" noProof="0">
              <a:latin typeface="Montserrat" panose="00000500000000000000" pitchFamily="2" charset="0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E10B212A-57D8-71C2-44A4-3C42E4C88042}"/>
              </a:ext>
            </a:extLst>
          </p:cNvPr>
          <p:cNvSpPr/>
          <p:nvPr/>
        </p:nvSpPr>
        <p:spPr>
          <a:xfrm>
            <a:off x="8124825" y="5192061"/>
            <a:ext cx="3512372" cy="13017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noProof="0">
              <a:latin typeface="Montserrat" panose="0000050000000000000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3AE88D8-E476-A892-860D-227D7A5C7AB9}"/>
              </a:ext>
            </a:extLst>
          </p:cNvPr>
          <p:cNvSpPr txBox="1"/>
          <p:nvPr/>
        </p:nvSpPr>
        <p:spPr>
          <a:xfrm>
            <a:off x="8047849" y="4977871"/>
            <a:ext cx="11239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latin typeface="Montserrat" panose="00000500000000000000" pitchFamily="2" charset="0"/>
              </a:rPr>
              <a:t>Rationale</a:t>
            </a:r>
            <a:endParaRPr lang="en-US" sz="900" b="1" noProof="0">
              <a:latin typeface="Montserrat" panose="00000500000000000000" pitchFamily="2" charset="0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ABEE8C9-68FC-D0BA-3EF4-AD2931231099}"/>
              </a:ext>
            </a:extLst>
          </p:cNvPr>
          <p:cNvSpPr/>
          <p:nvPr/>
        </p:nvSpPr>
        <p:spPr>
          <a:xfrm>
            <a:off x="2363509" y="5051257"/>
            <a:ext cx="1635850" cy="2308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>
                <a:latin typeface="Montserrat" panose="00000500000000000000" pitchFamily="2" charset="0"/>
              </a:rPr>
              <a:t>Custom or Market</a:t>
            </a:r>
            <a:endParaRPr lang="en-US" sz="800" noProof="0">
              <a:latin typeface="Montserrat" panose="00000500000000000000" pitchFamily="2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79915D39-21D0-A25A-BCF6-38BA7C82B26B}"/>
              </a:ext>
            </a:extLst>
          </p:cNvPr>
          <p:cNvSpPr txBox="1"/>
          <p:nvPr/>
        </p:nvSpPr>
        <p:spPr>
          <a:xfrm>
            <a:off x="642556" y="5041533"/>
            <a:ext cx="18148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latin typeface="Montserrat" panose="00000500000000000000" pitchFamily="2" charset="0"/>
              </a:rPr>
              <a:t>Application Category</a:t>
            </a:r>
            <a:endParaRPr lang="en-US" sz="900" b="1" noProof="0">
              <a:latin typeface="Montserrat" panose="00000500000000000000" pitchFamily="2" charset="0"/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004ECBC0-E716-D9C0-6542-F0F81EFA6CA3}"/>
              </a:ext>
            </a:extLst>
          </p:cNvPr>
          <p:cNvSpPr/>
          <p:nvPr/>
        </p:nvSpPr>
        <p:spPr>
          <a:xfrm>
            <a:off x="2363509" y="5365820"/>
            <a:ext cx="1635850" cy="2308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>
                <a:latin typeface="Montserrat" panose="00000500000000000000" pitchFamily="2" charset="0"/>
              </a:rPr>
              <a:t>&lt;specify applications&gt;</a:t>
            </a:r>
            <a:endParaRPr lang="en-US" sz="800" noProof="0">
              <a:latin typeface="Montserrat" panose="00000500000000000000" pitchFamily="2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FAA2C6D0-A35C-D0F7-466E-6D1509F15FB1}"/>
              </a:ext>
            </a:extLst>
          </p:cNvPr>
          <p:cNvSpPr txBox="1"/>
          <p:nvPr/>
        </p:nvSpPr>
        <p:spPr>
          <a:xfrm>
            <a:off x="642556" y="5365501"/>
            <a:ext cx="18148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noProof="0">
                <a:latin typeface="Montserrat" panose="00000500000000000000" pitchFamily="2" charset="0"/>
              </a:rPr>
              <a:t>Integrations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6A073561-B11C-05BB-6D5F-269853285F11}"/>
              </a:ext>
            </a:extLst>
          </p:cNvPr>
          <p:cNvSpPr/>
          <p:nvPr/>
        </p:nvSpPr>
        <p:spPr>
          <a:xfrm>
            <a:off x="2363509" y="5680383"/>
            <a:ext cx="1635850" cy="2308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noProof="0">
              <a:latin typeface="Montserrat" panose="00000500000000000000" pitchFamily="2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25DB3366-75C5-8F0C-7DB0-8A2FFF5D5BB0}"/>
              </a:ext>
            </a:extLst>
          </p:cNvPr>
          <p:cNvSpPr txBox="1"/>
          <p:nvPr/>
        </p:nvSpPr>
        <p:spPr>
          <a:xfrm>
            <a:off x="642556" y="5689469"/>
            <a:ext cx="18148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latin typeface="Montserrat" panose="00000500000000000000" pitchFamily="2" charset="0"/>
              </a:rPr>
              <a:t>Programming Language</a:t>
            </a:r>
            <a:endParaRPr lang="en-US" sz="900" b="1" noProof="0">
              <a:latin typeface="Montserrat" panose="00000500000000000000" pitchFamily="2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260F585-938C-D41D-84D1-DB460D383735}"/>
              </a:ext>
            </a:extLst>
          </p:cNvPr>
          <p:cNvSpPr/>
          <p:nvPr/>
        </p:nvSpPr>
        <p:spPr>
          <a:xfrm>
            <a:off x="2363509" y="5994946"/>
            <a:ext cx="1635850" cy="2308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noProof="0">
                <a:latin typeface="Montserrat" panose="00000500000000000000" pitchFamily="2" charset="0"/>
              </a:rPr>
              <a:t>Cloud or On Prem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8F5B671-0797-AA6D-B35C-E82D6A92714E}"/>
              </a:ext>
            </a:extLst>
          </p:cNvPr>
          <p:cNvSpPr txBox="1"/>
          <p:nvPr/>
        </p:nvSpPr>
        <p:spPr>
          <a:xfrm>
            <a:off x="642556" y="6013437"/>
            <a:ext cx="18148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noProof="0">
                <a:latin typeface="Montserrat" panose="00000500000000000000" pitchFamily="2" charset="0"/>
              </a:rPr>
              <a:t>Deployment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BC4C7848-36EB-A8C3-6ED1-F75E9CE9DDF2}"/>
              </a:ext>
            </a:extLst>
          </p:cNvPr>
          <p:cNvSpPr/>
          <p:nvPr/>
        </p:nvSpPr>
        <p:spPr>
          <a:xfrm>
            <a:off x="2363509" y="6309509"/>
            <a:ext cx="1635850" cy="2308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noProof="0">
              <a:latin typeface="Montserrat" panose="00000500000000000000" pitchFamily="2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F11A752-7ED3-F393-1BBC-DFD9F26099AD}"/>
              </a:ext>
            </a:extLst>
          </p:cNvPr>
          <p:cNvSpPr txBox="1"/>
          <p:nvPr/>
        </p:nvSpPr>
        <p:spPr>
          <a:xfrm>
            <a:off x="642556" y="6337406"/>
            <a:ext cx="18148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noProof="0">
                <a:latin typeface="Montserrat" panose="00000500000000000000" pitchFamily="2" charset="0"/>
              </a:rPr>
              <a:t>Planned Upgrades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BCEFFBB7-EF55-B005-754D-6A1A17B221D4}"/>
              </a:ext>
            </a:extLst>
          </p:cNvPr>
          <p:cNvSpPr/>
          <p:nvPr/>
        </p:nvSpPr>
        <p:spPr>
          <a:xfrm>
            <a:off x="5865153" y="5051257"/>
            <a:ext cx="1635850" cy="2308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noProof="0">
                <a:latin typeface="Montserrat" panose="00000500000000000000" pitchFamily="2" charset="0"/>
              </a:rPr>
              <a:t>&lt;per device t</a:t>
            </a:r>
            <a:r>
              <a:rPr lang="en-US" sz="800" err="1">
                <a:latin typeface="Montserrat" panose="00000500000000000000" pitchFamily="2" charset="0"/>
              </a:rPr>
              <a:t>ype</a:t>
            </a:r>
            <a:r>
              <a:rPr lang="en-US" sz="800">
                <a:latin typeface="Montserrat" panose="00000500000000000000" pitchFamily="2" charset="0"/>
              </a:rPr>
              <a:t> and OS.</a:t>
            </a:r>
            <a:endParaRPr lang="en-US" sz="800" noProof="0">
              <a:latin typeface="Montserrat" panose="00000500000000000000" pitchFamily="2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EDB989B4-AA1E-0E27-9393-BC8FF9E25B83}"/>
              </a:ext>
            </a:extLst>
          </p:cNvPr>
          <p:cNvSpPr txBox="1"/>
          <p:nvPr/>
        </p:nvSpPr>
        <p:spPr>
          <a:xfrm>
            <a:off x="4144200" y="5041533"/>
            <a:ext cx="18148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noProof="0">
                <a:latin typeface="Montserrat" panose="00000500000000000000" pitchFamily="2" charset="0"/>
              </a:rPr>
              <a:t>Compatibility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293B253D-DBE6-4B67-79C5-C5144A2EC5DE}"/>
              </a:ext>
            </a:extLst>
          </p:cNvPr>
          <p:cNvSpPr/>
          <p:nvPr/>
        </p:nvSpPr>
        <p:spPr>
          <a:xfrm>
            <a:off x="5865153" y="5323957"/>
            <a:ext cx="1635850" cy="2308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>
                <a:latin typeface="Montserrat" panose="00000500000000000000" pitchFamily="2" charset="0"/>
              </a:rPr>
              <a:t>YES/NO</a:t>
            </a:r>
            <a:endParaRPr lang="en-US" sz="800" noProof="0">
              <a:latin typeface="Montserrat" panose="00000500000000000000" pitchFamily="2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8C928282-AD89-83D9-280F-FB65099D85ED}"/>
              </a:ext>
            </a:extLst>
          </p:cNvPr>
          <p:cNvSpPr txBox="1"/>
          <p:nvPr/>
        </p:nvSpPr>
        <p:spPr>
          <a:xfrm>
            <a:off x="4144200" y="5329742"/>
            <a:ext cx="18148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noProof="0">
                <a:latin typeface="Montserrat" panose="00000500000000000000" pitchFamily="2" charset="0"/>
              </a:rPr>
              <a:t>Monitored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D195197C-1DAC-2D0B-D57E-EF1AAA0E663C}"/>
              </a:ext>
            </a:extLst>
          </p:cNvPr>
          <p:cNvSpPr/>
          <p:nvPr/>
        </p:nvSpPr>
        <p:spPr>
          <a:xfrm>
            <a:off x="5865153" y="5594320"/>
            <a:ext cx="1635850" cy="2308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>
                <a:latin typeface="Montserrat" panose="00000500000000000000" pitchFamily="2" charset="0"/>
              </a:rPr>
              <a:t>YES/NO</a:t>
            </a:r>
            <a:endParaRPr lang="en-US" sz="800" noProof="0">
              <a:latin typeface="Montserrat" panose="00000500000000000000" pitchFamily="2" charset="0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534B8BA7-08E7-FF6F-EA28-0EC150D82CC4}"/>
              </a:ext>
            </a:extLst>
          </p:cNvPr>
          <p:cNvSpPr txBox="1"/>
          <p:nvPr/>
        </p:nvSpPr>
        <p:spPr>
          <a:xfrm>
            <a:off x="4144200" y="5576645"/>
            <a:ext cx="18148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noProof="0">
                <a:latin typeface="Montserrat" panose="00000500000000000000" pitchFamily="2" charset="0"/>
              </a:rPr>
              <a:t>Security 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5FF9730-7C8F-1B15-0C4C-00A909EBDE6B}"/>
              </a:ext>
            </a:extLst>
          </p:cNvPr>
          <p:cNvSpPr/>
          <p:nvPr/>
        </p:nvSpPr>
        <p:spPr>
          <a:xfrm>
            <a:off x="5865153" y="5866627"/>
            <a:ext cx="1635850" cy="6351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>
                <a:latin typeface="Montserrat" panose="00000500000000000000" pitchFamily="2" charset="0"/>
              </a:rPr>
              <a:t>Version, planned migrations/upgrades, </a:t>
            </a:r>
            <a:r>
              <a:rPr lang="en-US" sz="800" err="1">
                <a:latin typeface="Montserrat" panose="00000500000000000000" pitchFamily="2" charset="0"/>
              </a:rPr>
              <a:t>etc</a:t>
            </a:r>
            <a:endParaRPr lang="en-US" sz="800" noProof="0">
              <a:latin typeface="Montserrat" panose="00000500000000000000" pitchFamily="2" charset="0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83D7873-CE14-5443-4847-8B72BA489935}"/>
              </a:ext>
            </a:extLst>
          </p:cNvPr>
          <p:cNvSpPr txBox="1"/>
          <p:nvPr/>
        </p:nvSpPr>
        <p:spPr>
          <a:xfrm>
            <a:off x="4144200" y="5862725"/>
            <a:ext cx="18148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noProof="0">
                <a:latin typeface="Montserrat" panose="00000500000000000000" pitchFamily="2" charset="0"/>
              </a:rPr>
              <a:t>Additional comments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9A60D94F-71C1-778D-5C82-FF981E9F0A71}"/>
              </a:ext>
            </a:extLst>
          </p:cNvPr>
          <p:cNvSpPr/>
          <p:nvPr/>
        </p:nvSpPr>
        <p:spPr>
          <a:xfrm>
            <a:off x="6837797" y="4373324"/>
            <a:ext cx="998099" cy="20165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noProof="0">
              <a:latin typeface="Montserrat" panose="00000500000000000000" pitchFamily="2" charset="0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2DCC9640-B0AF-AC5A-41B0-1EA397D523B0}"/>
              </a:ext>
            </a:extLst>
          </p:cNvPr>
          <p:cNvSpPr txBox="1"/>
          <p:nvPr/>
        </p:nvSpPr>
        <p:spPr>
          <a:xfrm>
            <a:off x="6822772" y="4151459"/>
            <a:ext cx="11239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noProof="0">
                <a:latin typeface="Montserrat" panose="00000500000000000000" pitchFamily="2" charset="0"/>
              </a:rPr>
              <a:t>Regulatory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CF440C3-AC3A-41AE-A97B-376F32A8D662}"/>
              </a:ext>
            </a:extLst>
          </p:cNvPr>
          <p:cNvSpPr txBox="1"/>
          <p:nvPr/>
        </p:nvSpPr>
        <p:spPr>
          <a:xfrm>
            <a:off x="8094530" y="2284446"/>
            <a:ext cx="1287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latin typeface="Montserrat" panose="00000500000000000000" pitchFamily="2" charset="0"/>
              </a:rPr>
              <a:t>User Management</a:t>
            </a:r>
            <a:endParaRPr lang="en-US" sz="900" b="1" noProof="0">
              <a:latin typeface="Montserrat" panose="00000500000000000000" pitchFamily="2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64E95A6F-6225-3343-A197-F014B4ADE0EB}"/>
              </a:ext>
            </a:extLst>
          </p:cNvPr>
          <p:cNvSpPr txBox="1"/>
          <p:nvPr/>
        </p:nvSpPr>
        <p:spPr>
          <a:xfrm>
            <a:off x="8094530" y="2503401"/>
            <a:ext cx="1287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latin typeface="Montserrat" panose="00000500000000000000" pitchFamily="2" charset="0"/>
              </a:rPr>
              <a:t>Bugs / Incidents</a:t>
            </a:r>
            <a:endParaRPr lang="en-US" sz="900" b="1" noProof="0">
              <a:latin typeface="Montserrat" panose="00000500000000000000" pitchFamily="2" charset="0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88730218-1A5F-E6B5-022A-769249843B70}"/>
              </a:ext>
            </a:extLst>
          </p:cNvPr>
          <p:cNvSpPr txBox="1"/>
          <p:nvPr/>
        </p:nvSpPr>
        <p:spPr>
          <a:xfrm>
            <a:off x="8094530" y="2722356"/>
            <a:ext cx="1287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latin typeface="Montserrat" panose="00000500000000000000" pitchFamily="2" charset="0"/>
              </a:rPr>
              <a:t>Enhancements</a:t>
            </a:r>
            <a:endParaRPr lang="en-US" sz="900" b="1" noProof="0">
              <a:latin typeface="Montserrat" panose="00000500000000000000" pitchFamily="2" charset="0"/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D7696B29-54CF-BD52-5BB3-52CE5327AA3B}"/>
              </a:ext>
            </a:extLst>
          </p:cNvPr>
          <p:cNvSpPr/>
          <p:nvPr/>
        </p:nvSpPr>
        <p:spPr>
          <a:xfrm>
            <a:off x="9381913" y="2315404"/>
            <a:ext cx="1069892" cy="1515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>
                <a:latin typeface="Montserrat" panose="00000500000000000000" pitchFamily="2" charset="0"/>
              </a:rPr>
              <a:t>&lt;</a:t>
            </a:r>
            <a:r>
              <a:rPr lang="en-US" sz="800" err="1">
                <a:latin typeface="Montserrat" panose="00000500000000000000" pitchFamily="2" charset="0"/>
              </a:rPr>
              <a:t>ITNow</a:t>
            </a:r>
            <a:r>
              <a:rPr lang="en-US" sz="800">
                <a:latin typeface="Montserrat" panose="00000500000000000000" pitchFamily="2" charset="0"/>
              </a:rPr>
              <a:t>/email&gt;</a:t>
            </a:r>
            <a:endParaRPr lang="en-US" sz="800" noProof="0">
              <a:latin typeface="Montserrat" panose="00000500000000000000" pitchFamily="2" charset="0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D9967CAA-5819-BCDF-E15E-6BB717452632}"/>
              </a:ext>
            </a:extLst>
          </p:cNvPr>
          <p:cNvSpPr/>
          <p:nvPr/>
        </p:nvSpPr>
        <p:spPr>
          <a:xfrm>
            <a:off x="10555518" y="2315404"/>
            <a:ext cx="1069892" cy="1515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noProof="0">
                <a:latin typeface="Montserrat" panose="00000500000000000000" pitchFamily="2" charset="0"/>
              </a:rPr>
              <a:t>IT, vendor, other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53436FB4-17B2-F35E-F8D7-B259B96FB223}"/>
              </a:ext>
            </a:extLst>
          </p:cNvPr>
          <p:cNvSpPr/>
          <p:nvPr/>
        </p:nvSpPr>
        <p:spPr>
          <a:xfrm>
            <a:off x="9381913" y="2545051"/>
            <a:ext cx="1069892" cy="1515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>
                <a:latin typeface="Montserrat" panose="00000500000000000000" pitchFamily="2" charset="0"/>
              </a:rPr>
              <a:t>&lt;ITNow/email&gt;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E6FA5813-B389-8152-CA92-1F421CE421FA}"/>
              </a:ext>
            </a:extLst>
          </p:cNvPr>
          <p:cNvSpPr/>
          <p:nvPr/>
        </p:nvSpPr>
        <p:spPr>
          <a:xfrm>
            <a:off x="10555518" y="2545051"/>
            <a:ext cx="1069892" cy="1515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>
                <a:latin typeface="Montserrat" panose="00000500000000000000" pitchFamily="2" charset="0"/>
              </a:rPr>
              <a:t>IT, vendor, other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B60E096-53B8-3CC7-4E1A-6A2D19BAF0A5}"/>
              </a:ext>
            </a:extLst>
          </p:cNvPr>
          <p:cNvSpPr/>
          <p:nvPr/>
        </p:nvSpPr>
        <p:spPr>
          <a:xfrm>
            <a:off x="9381913" y="2774698"/>
            <a:ext cx="1069892" cy="1515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>
                <a:latin typeface="Montserrat" panose="00000500000000000000" pitchFamily="2" charset="0"/>
              </a:rPr>
              <a:t>&lt;ITNow/email&gt;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C4E8C2C0-9574-E12A-3B31-F218BA4D81F3}"/>
              </a:ext>
            </a:extLst>
          </p:cNvPr>
          <p:cNvSpPr/>
          <p:nvPr/>
        </p:nvSpPr>
        <p:spPr>
          <a:xfrm>
            <a:off x="10555518" y="2774698"/>
            <a:ext cx="1069892" cy="1515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>
                <a:latin typeface="Montserrat" panose="00000500000000000000" pitchFamily="2" charset="0"/>
              </a:rPr>
              <a:t>IT, vendor, other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68C0F9EA-DC87-93C9-3634-8A7323E12603}"/>
              </a:ext>
            </a:extLst>
          </p:cNvPr>
          <p:cNvSpPr txBox="1"/>
          <p:nvPr/>
        </p:nvSpPr>
        <p:spPr>
          <a:xfrm>
            <a:off x="8094530" y="2956693"/>
            <a:ext cx="1287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latin typeface="Montserrat" panose="00000500000000000000" pitchFamily="2" charset="0"/>
              </a:rPr>
              <a:t>IT Knowledge</a:t>
            </a:r>
            <a:endParaRPr lang="en-US" sz="900" b="1" noProof="0">
              <a:latin typeface="Montserrat" panose="00000500000000000000" pitchFamily="2" charset="0"/>
            </a:endParaRP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CD066098-45B4-EF53-9986-A6A3048B4054}"/>
              </a:ext>
            </a:extLst>
          </p:cNvPr>
          <p:cNvSpPr/>
          <p:nvPr/>
        </p:nvSpPr>
        <p:spPr>
          <a:xfrm>
            <a:off x="9381913" y="3004346"/>
            <a:ext cx="2255284" cy="66613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noProof="0">
              <a:latin typeface="Montserrat" panose="00000500000000000000" pitchFamily="2" charset="0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AF45A38C-E8DF-8CA4-71A2-8820F48FBA6C}"/>
              </a:ext>
            </a:extLst>
          </p:cNvPr>
          <p:cNvSpPr txBox="1"/>
          <p:nvPr/>
        </p:nvSpPr>
        <p:spPr>
          <a:xfrm>
            <a:off x="8094530" y="3778897"/>
            <a:ext cx="1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latin typeface="Montserrat" panose="00000500000000000000" pitchFamily="2" charset="0"/>
              </a:rPr>
              <a:t>Additional Comments</a:t>
            </a:r>
            <a:endParaRPr lang="en-US" sz="900" b="1" noProof="0">
              <a:latin typeface="Montserrat" panose="00000500000000000000" pitchFamily="2" charset="0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FA9E7322-F7E1-D4AE-2D50-BC8ED9280C02}"/>
              </a:ext>
            </a:extLst>
          </p:cNvPr>
          <p:cNvSpPr/>
          <p:nvPr/>
        </p:nvSpPr>
        <p:spPr>
          <a:xfrm>
            <a:off x="9381913" y="3802318"/>
            <a:ext cx="2255284" cy="77266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noProof="0">
              <a:latin typeface="Montserrat" panose="00000500000000000000" pitchFamily="2" charset="0"/>
            </a:endParaRPr>
          </a:p>
        </p:txBody>
      </p:sp>
      <p:grpSp>
        <p:nvGrpSpPr>
          <p:cNvPr id="3" name="Grupo 25">
            <a:extLst>
              <a:ext uri="{FF2B5EF4-FFF2-40B4-BE49-F238E27FC236}">
                <a16:creationId xmlns:a16="http://schemas.microsoft.com/office/drawing/2014/main" id="{13D22B51-F4E9-5839-EC2A-40F4BB90D51E}"/>
              </a:ext>
            </a:extLst>
          </p:cNvPr>
          <p:cNvGrpSpPr/>
          <p:nvPr/>
        </p:nvGrpSpPr>
        <p:grpSpPr>
          <a:xfrm>
            <a:off x="231894" y="102420"/>
            <a:ext cx="9322430" cy="659731"/>
            <a:chOff x="231894" y="241604"/>
            <a:chExt cx="9322430" cy="659731"/>
          </a:xfrm>
        </p:grpSpPr>
        <p:sp>
          <p:nvSpPr>
            <p:cNvPr id="5" name="Text Placeholder 4">
              <a:extLst>
                <a:ext uri="{FF2B5EF4-FFF2-40B4-BE49-F238E27FC236}">
                  <a16:creationId xmlns:a16="http://schemas.microsoft.com/office/drawing/2014/main" id="{5854D99A-F5E6-B117-A39C-51FAA5DEEDB1}"/>
                </a:ext>
              </a:extLst>
            </p:cNvPr>
            <p:cNvSpPr txBox="1">
              <a:spLocks/>
            </p:cNvSpPr>
            <p:nvPr/>
          </p:nvSpPr>
          <p:spPr>
            <a:xfrm>
              <a:off x="1214210" y="249693"/>
              <a:ext cx="8340114" cy="646268"/>
            </a:xfrm>
            <a:prstGeom prst="rect">
              <a:avLst/>
            </a:prstGeom>
            <a:ln w="25400">
              <a:miter lim="400000"/>
            </a:ln>
          </p:spPr>
          <p:txBody>
            <a:bodyPr wrap="square" lIns="182849" tIns="182849" rIns="182849" bIns="182849" anchor="ctr">
              <a:spAutoFit/>
            </a:bodyPr>
            <a:lstStyle>
              <a:lvl1pPr marL="0" marR="0" indent="0" algn="l" defTabSz="412667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0" i="0" u="none" strike="noStrike" cap="none" spc="0" baseline="0">
                  <a:solidFill>
                    <a:srgbClr val="404040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  <a:lvl2pPr marL="0" marR="0" indent="228554" algn="l" defTabSz="412667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0" i="0" u="none" strike="noStrike" cap="none" spc="0" baseline="0">
                  <a:solidFill>
                    <a:srgbClr val="404040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2pPr>
              <a:lvl3pPr marL="0" marR="0" indent="457109" algn="l" defTabSz="412667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0" i="0" u="none" strike="noStrike" cap="none" spc="0" baseline="0">
                  <a:solidFill>
                    <a:srgbClr val="404040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3pPr>
              <a:lvl4pPr marL="0" marR="0" indent="685663" algn="l" defTabSz="412667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0" i="0" u="none" strike="noStrike" cap="none" spc="0" baseline="0">
                  <a:solidFill>
                    <a:srgbClr val="404040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4pPr>
              <a:lvl5pPr marL="0" marR="0" indent="914217" algn="l" defTabSz="412667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0" i="0" u="none" strike="noStrike" cap="none" spc="0" baseline="0">
                  <a:solidFill>
                    <a:srgbClr val="404040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5pPr>
              <a:lvl6pPr marL="0" marR="0" indent="1142771" algn="l" defTabSz="412667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0" i="0" u="none" strike="noStrike" cap="none" spc="0" baseline="0">
                  <a:solidFill>
                    <a:srgbClr val="404040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6pPr>
              <a:lvl7pPr marL="0" marR="0" indent="1371326" algn="l" defTabSz="412667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0" i="0" u="none" strike="noStrike" cap="none" spc="0" baseline="0">
                  <a:solidFill>
                    <a:srgbClr val="404040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7pPr>
              <a:lvl8pPr marL="0" marR="0" indent="1599880" algn="l" defTabSz="412667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0" i="0" u="none" strike="noStrike" cap="none" spc="0" baseline="0">
                  <a:solidFill>
                    <a:srgbClr val="404040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8pPr>
              <a:lvl9pPr marL="0" marR="0" indent="1828434" algn="l" defTabSz="412667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0" i="0" u="none" strike="noStrike" cap="none" spc="0" baseline="0">
                  <a:solidFill>
                    <a:srgbClr val="404040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4126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0" cap="none" spc="0" normalizeH="0" baseline="0">
                  <a:ln>
                    <a:noFill/>
                  </a:ln>
                  <a:solidFill>
                    <a:srgbClr val="F78A31"/>
                  </a:solidFill>
                  <a:effectLst/>
                  <a:uLnTx/>
                  <a:uFillTx/>
                  <a:latin typeface="Arial Black"/>
                  <a:ea typeface="+mn-ea"/>
                  <a:cs typeface="Arial"/>
                  <a:sym typeface="Arial"/>
                </a:rPr>
                <a:t>Application Characterization Template</a:t>
              </a:r>
              <a:endParaRPr kumimoji="0" lang="en-US" sz="1800" b="0" i="1" u="none" strike="noStrike" kern="0" cap="none" spc="0" normalizeH="0" baseline="0" noProof="0">
                <a:ln>
                  <a:noFill/>
                </a:ln>
                <a:solidFill>
                  <a:srgbClr val="F78A31"/>
                </a:solidFill>
                <a:effectLst/>
                <a:uLnTx/>
                <a:uFillTx/>
                <a:latin typeface="Arial Black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9C2F23F-960C-52B7-BD53-B1A6E163A66C}"/>
                </a:ext>
              </a:extLst>
            </p:cNvPr>
            <p:cNvCxnSpPr/>
            <p:nvPr/>
          </p:nvCxnSpPr>
          <p:spPr>
            <a:xfrm>
              <a:off x="1130207" y="241604"/>
              <a:ext cx="0" cy="659731"/>
            </a:xfrm>
            <a:prstGeom prst="line">
              <a:avLst/>
            </a:prstGeom>
            <a:ln w="444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 Placeholder 13">
              <a:extLst>
                <a:ext uri="{FF2B5EF4-FFF2-40B4-BE49-F238E27FC236}">
                  <a16:creationId xmlns:a16="http://schemas.microsoft.com/office/drawing/2014/main" id="{127E8941-A826-A5AD-65CE-525F49DE4550}"/>
                </a:ext>
              </a:extLst>
            </p:cNvPr>
            <p:cNvSpPr txBox="1">
              <a:spLocks/>
            </p:cNvSpPr>
            <p:nvPr/>
          </p:nvSpPr>
          <p:spPr>
            <a:xfrm>
              <a:off x="231894" y="306681"/>
              <a:ext cx="814309" cy="514350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0" marR="0" indent="0" algn="ct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n-US" sz="3600" b="1" i="0" u="none" strike="noStrike" kern="1200" cap="none" spc="0" baseline="0" dirty="0" smtClean="0">
                  <a:solidFill>
                    <a:srgbClr val="050065"/>
                  </a:solidFill>
                  <a:uFillTx/>
                  <a:latin typeface="+mj-lt"/>
                  <a:ea typeface="Helvetica Neue UltraLight" panose="02000206000000020004" pitchFamily="2" charset="0"/>
                  <a:cs typeface="Helvetica Neue" panose="02000503000000020004" pitchFamily="2" charset="0"/>
                  <a:sym typeface="Arial"/>
                </a:defRPr>
              </a:lvl1pPr>
              <a:lvl2pPr marL="0" marR="0" indent="228554" algn="l" defTabSz="412667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0" i="0" u="none" strike="noStrike" cap="none" spc="0" baseline="0">
                  <a:solidFill>
                    <a:srgbClr val="404040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2pPr>
              <a:lvl3pPr marL="0" marR="0" indent="457109" algn="l" defTabSz="412667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0" i="0" u="none" strike="noStrike" cap="none" spc="0" baseline="0">
                  <a:solidFill>
                    <a:srgbClr val="404040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3pPr>
              <a:lvl4pPr marL="0" marR="0" indent="685663" algn="l" defTabSz="412667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0" i="0" u="none" strike="noStrike" cap="none" spc="0" baseline="0">
                  <a:solidFill>
                    <a:srgbClr val="404040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4pPr>
              <a:lvl5pPr marL="0" marR="0" indent="914217" algn="l" defTabSz="412667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0" i="0" u="none" strike="noStrike" cap="none" spc="0" baseline="0">
                  <a:solidFill>
                    <a:srgbClr val="404040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5pPr>
              <a:lvl6pPr marL="0" marR="0" indent="1142771" algn="l" defTabSz="412667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0" i="0" u="none" strike="noStrike" cap="none" spc="0" baseline="0">
                  <a:solidFill>
                    <a:srgbClr val="404040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6pPr>
              <a:lvl7pPr marL="0" marR="0" indent="1371326" algn="l" defTabSz="412667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0" i="0" u="none" strike="noStrike" cap="none" spc="0" baseline="0">
                  <a:solidFill>
                    <a:srgbClr val="404040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7pPr>
              <a:lvl8pPr marL="0" marR="0" indent="1599880" algn="l" defTabSz="412667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0" i="0" u="none" strike="noStrike" cap="none" spc="0" baseline="0">
                  <a:solidFill>
                    <a:srgbClr val="404040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8pPr>
              <a:lvl9pPr marL="0" marR="0" indent="1828434" algn="l" defTabSz="412667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0" i="0" u="none" strike="noStrike" cap="none" spc="0" baseline="0">
                  <a:solidFill>
                    <a:srgbClr val="404040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78A31"/>
                  </a:solidFill>
                  <a:effectLst/>
                  <a:uLnTx/>
                  <a:uFillTx/>
                  <a:latin typeface="Arial Black"/>
                  <a:sym typeface="Arial"/>
                </a:rPr>
                <a:t>0</a:t>
              </a:r>
              <a:r>
                <a:rPr lang="en-US" sz="2800" noProof="0">
                  <a:solidFill>
                    <a:srgbClr val="F78A31"/>
                  </a:solidFill>
                  <a:latin typeface="Arial Black"/>
                </a:rPr>
                <a:t>4</a:t>
              </a: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78A31"/>
                </a:solidFill>
                <a:effectLst/>
                <a:uLnTx/>
                <a:uFillTx/>
                <a:latin typeface="Arial Black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83431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a_x00ed_s xmlns="4b464e96-be12-433e-8722-39d5a0f59d28" xsi:nil="true"/>
    <Fuente xmlns="4b464e96-be12-433e-8722-39d5a0f59d28" xsi:nil="true"/>
    <lcf76f155ced4ddcb4097134ff3c332f xmlns="4b464e96-be12-433e-8722-39d5a0f59d28">
      <Terms xmlns="http://schemas.microsoft.com/office/infopath/2007/PartnerControls"/>
    </lcf76f155ced4ddcb4097134ff3c332f>
    <TaxCatchAll xmlns="9af8d66c-8f78-4f3a-ae1c-6e82e7ed62c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4ABF3122F7F4D498EB3A12D7FC443DA" ma:contentTypeVersion="15" ma:contentTypeDescription="Crear nuevo documento." ma:contentTypeScope="" ma:versionID="7ce91214b69d3ad650889c52d7c1a41d">
  <xsd:schema xmlns:xsd="http://www.w3.org/2001/XMLSchema" xmlns:xs="http://www.w3.org/2001/XMLSchema" xmlns:p="http://schemas.microsoft.com/office/2006/metadata/properties" xmlns:ns2="4b464e96-be12-433e-8722-39d5a0f59d28" xmlns:ns3="9af8d66c-8f78-4f3a-ae1c-6e82e7ed62c7" targetNamespace="http://schemas.microsoft.com/office/2006/metadata/properties" ma:root="true" ma:fieldsID="50a3d36cb747385e8c121ab8640bbf0f" ns2:_="" ns3:_="">
    <xsd:import namespace="4b464e96-be12-433e-8722-39d5a0f59d28"/>
    <xsd:import namespace="9af8d66c-8f78-4f3a-ae1c-6e82e7ed62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Fuente" minOccurs="0"/>
                <xsd:element ref="ns2:Pa_x00ed_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464e96-be12-433e-8722-39d5a0f59d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Fuente" ma:index="20" nillable="true" ma:displayName="Compartido por" ma:format="Dropdown" ma:internalName="Fuente">
      <xsd:simpleType>
        <xsd:restriction base="dms:Text">
          <xsd:maxLength value="255"/>
        </xsd:restriction>
      </xsd:simpleType>
    </xsd:element>
    <xsd:element name="Pa_x00ed_s" ma:index="21" nillable="true" ma:displayName="País" ma:format="Dropdown" ma:internalName="Pa_x00ed_s">
      <xsd:simpleType>
        <xsd:restriction base="dms:Text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f8d66c-8f78-4f3a-ae1c-6e82e7ed62c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ad7c53e-bc4f-4e24-99ba-65f21ed5e662}" ma:internalName="TaxCatchAll" ma:showField="CatchAllData" ma:web="9af8d66c-8f78-4f3a-ae1c-6e82e7ed62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52B276-6B62-46F0-AF39-D3CF29CFA25D}">
  <ds:schemaRefs>
    <ds:schemaRef ds:uri="4b464e96-be12-433e-8722-39d5a0f59d28"/>
    <ds:schemaRef ds:uri="9af8d66c-8f78-4f3a-ae1c-6e82e7ed62c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4823C82-36EF-4BE0-9409-4FAADC098A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DCF331-C67D-4E18-A2FD-00EB74266667}">
  <ds:schemaRefs>
    <ds:schemaRef ds:uri="4b464e96-be12-433e-8722-39d5a0f59d28"/>
    <ds:schemaRef ds:uri="9af8d66c-8f78-4f3a-ae1c-6e82e7ed62c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186</Words>
  <Application>Microsoft Macintosh PowerPoint</Application>
  <PresentationFormat>Widescreen</PresentationFormat>
  <Paragraphs>64</Paragraphs>
  <Slides>1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Arial Black</vt:lpstr>
      <vt:lpstr>Montserrat</vt:lpstr>
      <vt:lpstr>Segoe UI</vt:lpstr>
      <vt:lpstr>office theme</vt:lpstr>
      <vt:lpstr>Diapositiva de think-cell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Gustavo Castellano</cp:lastModifiedBy>
  <cp:revision>3</cp:revision>
  <dcterms:created xsi:type="dcterms:W3CDTF">2026-01-20T21:45:52Z</dcterms:created>
  <dcterms:modified xsi:type="dcterms:W3CDTF">2026-01-28T15:42:13Z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0x01010024ABF3122F7F4D498EB3A12D7FC443DA</vt:lpwstr>
  </property>
  <property fmtid="{D5CDD505-2E9C-101B-9397-08002B2CF9AE}" pid="3" name="MediaServiceImageTags">
    <vt:lpwstr/>
  </property>
</Properties>
</file>